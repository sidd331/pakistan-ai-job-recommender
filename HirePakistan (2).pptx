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54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A5A87"/>
          </a:solidFill>
          <a:ln w="12700">
            <a:solidFill>
              <a:srgbClr val="2A5A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64008"/>
          </a:xfrm>
          <a:prstGeom prst="rect">
            <a:avLst/>
          </a:prstGeom>
          <a:solidFill>
            <a:srgbClr val="3D7AB5"/>
          </a:solidFill>
          <a:ln w="12700">
            <a:solidFill>
              <a:srgbClr val="3D7A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914400"/>
            <a:ext cx="4389120" cy="4389120"/>
          </a:xfrm>
          <a:prstGeom prst="ellipse">
            <a:avLst/>
          </a:prstGeom>
          <a:solidFill>
            <a:srgbClr val="DDE9F5">
              <a:alpha val="85000"/>
            </a:srgbClr>
          </a:solidFill>
          <a:ln w="12700">
            <a:solidFill>
              <a:srgbClr val="3D7AB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74320"/>
            <a:ext cx="1828800" cy="502920"/>
          </a:xfrm>
          <a:prstGeom prst="rect">
            <a:avLst/>
          </a:prstGeom>
          <a:solidFill>
            <a:srgbClr val="3D7AB5"/>
          </a:solidFill>
          <a:ln w="12700">
            <a:solidFill>
              <a:srgbClr val="3D7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4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NAVTTC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6D7A8A"/>
                </a:solidFill>
              </a:rPr>
              <a:t>ARTIFICIAL INTELLIGENCE  |  FINAL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HirePakistan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640080" y="22677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D7AB5"/>
                </a:solidFill>
              </a:rPr>
              <a:t>AI-Powered Intelligent Job Recommendation Platform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4114800" cy="27432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44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50"/>
                </a:solidFill>
              </a:rPr>
              <a:t>Muhammad Saddique</a:t>
            </a:r>
            <a:r>
              <a:rPr lang="en-US" sz="1600" dirty="0">
                <a:solidFill>
                  <a:srgbClr val="6D7A8A"/>
                </a:solidFill>
              </a:rPr>
              <a:t>   |   Course: Artificial Intelligence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73380"/>
            <a:ext cx="2834640" cy="43891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F5F7FA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D7A8A"/>
                </a:solidFill>
              </a:rPr>
              <a:t>Powered by NLP  ·  TF-IDF  ·  Cosine Similarity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8AF39D-2966-FC76-0557-EE8DEB7BF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5A87"/>
          </a:solidFill>
          <a:ln w="12700">
            <a:solidFill>
              <a:srgbClr val="2A5A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3D7AB5"/>
          </a:solidFill>
          <a:ln w="12700">
            <a:solidFill>
              <a:srgbClr val="3D7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Q1  ·  Which Dataset is Used?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0116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241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D7A8A"/>
                </a:solidFill>
              </a:rPr>
              <a:t>HirePakistan dynamically generates its own live dataset — no static CSV. A scraping agent collects real-time job listings from 6 major Pakistani portals every 6 hours.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" y="1664208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664208"/>
            <a:ext cx="109728" cy="1170432"/>
          </a:xfrm>
          <a:prstGeom prst="rect">
            <a:avLst/>
          </a:prstGeom>
          <a:solidFill>
            <a:srgbClr val="8C4455"/>
          </a:solidFill>
          <a:ln w="12700">
            <a:solidFill>
              <a:srgbClr val="8C44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7739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C4455"/>
                </a:solidFill>
              </a:rPr>
              <a:t>Rozee.pk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75488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D7A8A"/>
                </a:solidFill>
              </a:rPr>
              <a:t>Pakistan's #1 private job portal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46120" y="1664208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664208"/>
            <a:ext cx="109728" cy="1170432"/>
          </a:xfrm>
          <a:prstGeom prst="rect">
            <a:avLst/>
          </a:prstGeom>
          <a:solidFill>
            <a:srgbClr val="4C6EA0"/>
          </a:solidFill>
          <a:ln w="12700">
            <a:solidFill>
              <a:srgbClr val="4C6E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47288" y="17739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6EA0"/>
                </a:solidFill>
              </a:rPr>
              <a:t>Mustakbil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447288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D7A8A"/>
                </a:solidFill>
              </a:rPr>
              <a:t>Leading employment platform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0" y="1664208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664208"/>
            <a:ext cx="109728" cy="1170432"/>
          </a:xfrm>
          <a:prstGeom prst="rect">
            <a:avLst/>
          </a:prstGeom>
          <a:solidFill>
            <a:srgbClr val="4D8B76"/>
          </a:solidFill>
          <a:ln w="12700">
            <a:solidFill>
              <a:srgbClr val="4D8B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739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D8B76"/>
                </a:solidFill>
              </a:rPr>
              <a:t>FPSC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419088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D7A8A"/>
                </a:solidFill>
              </a:rPr>
              <a:t>Federal Public Service Commission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74320" y="301752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3017520"/>
            <a:ext cx="109728" cy="1170432"/>
          </a:xfrm>
          <a:prstGeom prst="rect">
            <a:avLst/>
          </a:prstGeom>
          <a:solidFill>
            <a:srgbClr val="7D5C8A"/>
          </a:solidFill>
          <a:ln w="12700">
            <a:solidFill>
              <a:srgbClr val="7D5C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31272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D5C8A"/>
                </a:solidFill>
              </a:rPr>
              <a:t>KPPSC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" y="35478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D7A8A"/>
                </a:solidFill>
              </a:rPr>
              <a:t>KP Public Service Commission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246120" y="301752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46120" y="3017520"/>
            <a:ext cx="109728" cy="1170432"/>
          </a:xfrm>
          <a:prstGeom prst="rect">
            <a:avLst/>
          </a:prstGeom>
          <a:solidFill>
            <a:srgbClr val="9A6B2F"/>
          </a:solidFill>
          <a:ln w="12700">
            <a:solidFill>
              <a:srgbClr val="9A6B2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47288" y="31272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A6B2F"/>
                </a:solidFill>
              </a:rPr>
              <a:t>SPSC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3447288" y="35478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D7A8A"/>
                </a:solidFill>
              </a:rPr>
              <a:t>Sindh Public Service Commission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17920" y="301752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17920" y="3017520"/>
            <a:ext cx="109728" cy="1170432"/>
          </a:xfrm>
          <a:prstGeom prst="rect">
            <a:avLst/>
          </a:prstGeom>
          <a:solidFill>
            <a:srgbClr val="3D7AB5"/>
          </a:solidFill>
          <a:ln w="12700">
            <a:solidFill>
              <a:srgbClr val="3D7AB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19088" y="31272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7AB5"/>
                </a:solidFill>
              </a:rPr>
              <a:t>AJKPSC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19088" y="35478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D7A8A"/>
                </a:solidFill>
              </a:rPr>
              <a:t>AJK Public Service Commission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74320" y="4361688"/>
            <a:ext cx="8595360" cy="502920"/>
          </a:xfrm>
          <a:prstGeom prst="rect">
            <a:avLst/>
          </a:prstGeom>
          <a:solidFill>
            <a:srgbClr val="DDE9F5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361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5A87"/>
                </a:solidFill>
              </a:rPr>
              <a:t>Saved to: Pakistan_Jobs_Report.xlsx  &amp;  SQLite Database  (auto-updated every 6 hours)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5A87"/>
          </a:solidFill>
          <a:ln w="12700">
            <a:solidFill>
              <a:srgbClr val="2A5A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3D7AB5"/>
          </a:solidFill>
          <a:ln w="12700">
            <a:solidFill>
              <a:srgbClr val="3D7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Q2  ·  Which Algorithm is Used?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0116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092708"/>
            <a:ext cx="27432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solidFill>
            <a:srgbClr val="4C6EA0"/>
          </a:solidFill>
          <a:ln w="12700">
            <a:solidFill>
              <a:srgbClr val="4C6E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</a:rPr>
              <a:t>01  TF-IDF Vectorizer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143000" y="1664208"/>
            <a:ext cx="1005840" cy="1005840"/>
          </a:xfrm>
          <a:prstGeom prst="ellipse">
            <a:avLst/>
          </a:prstGeom>
          <a:solidFill>
            <a:srgbClr val="4C6EA0"/>
          </a:solidFill>
          <a:ln w="12700">
            <a:solidFill>
              <a:srgbClr val="4C6EA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1783080"/>
            <a:ext cx="768096" cy="7680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" y="276148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Converts resume &amp; job text into mathematical vectors. Rare keywords get higher weight than common words.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051560"/>
            <a:ext cx="27432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108960" y="1051560"/>
            <a:ext cx="2743200" cy="502920"/>
          </a:xfrm>
          <a:prstGeom prst="rect">
            <a:avLst/>
          </a:prstGeom>
          <a:solidFill>
            <a:srgbClr val="4D8B76"/>
          </a:solidFill>
          <a:ln w="12700">
            <a:solidFill>
              <a:srgbClr val="4D8B7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9184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</a:rPr>
              <a:t>02  Cosine Similarity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069080" y="1664208"/>
            <a:ext cx="1005840" cy="1005840"/>
          </a:xfrm>
          <a:prstGeom prst="ellipse">
            <a:avLst/>
          </a:prstGeom>
          <a:solidFill>
            <a:srgbClr val="4D8B76"/>
          </a:solidFill>
          <a:ln w="12700">
            <a:solidFill>
              <a:srgbClr val="4D8B7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1783080"/>
            <a:ext cx="768096" cy="7680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10128" y="276148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</a:rPr>
              <a:t>Calculates the angle between Resume Vector and Job Vector to produce a semantic match percentage</a:t>
            </a:r>
            <a:r>
              <a:rPr lang="en-US" sz="950" dirty="0">
                <a:solidFill>
                  <a:srgbClr val="2C3E50"/>
                </a:solidFill>
              </a:rPr>
              <a:t>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26480" y="1051560"/>
            <a:ext cx="27432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051560"/>
            <a:ext cx="2743200" cy="502920"/>
          </a:xfrm>
          <a:prstGeom prst="rect">
            <a:avLst/>
          </a:prstGeom>
          <a:solidFill>
            <a:srgbClr val="7D5C8A"/>
          </a:solidFill>
          <a:ln w="12700">
            <a:solidFill>
              <a:srgbClr val="7D5C8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1792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</a:rPr>
              <a:t>03  Heuristic Boosting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995160" y="1664208"/>
            <a:ext cx="1005840" cy="1005840"/>
          </a:xfrm>
          <a:prstGeom prst="ellipse">
            <a:avLst/>
          </a:prstGeom>
          <a:solidFill>
            <a:srgbClr val="7D5C8A"/>
          </a:solidFill>
          <a:ln w="12700">
            <a:solidFill>
              <a:srgbClr val="7D5C8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783080"/>
            <a:ext cx="768096" cy="7680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36208" y="276148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+3% matching skills  ·  +10% location match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+15% job title match. Custom logic on top of ML.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74320" y="3364992"/>
            <a:ext cx="8595360" cy="1463040"/>
          </a:xfrm>
          <a:prstGeom prst="rect">
            <a:avLst/>
          </a:prstGeom>
          <a:solidFill>
            <a:srgbClr val="DDE9F5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5A87"/>
                </a:solidFill>
              </a:rPr>
              <a:t>Mathematical Formulas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65760" y="3712464"/>
            <a:ext cx="4160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6EA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65760" y="3712464"/>
            <a:ext cx="1143000" cy="292608"/>
          </a:xfrm>
          <a:prstGeom prst="rect">
            <a:avLst/>
          </a:prstGeom>
          <a:solidFill>
            <a:srgbClr val="4C6EA0"/>
          </a:solidFill>
          <a:ln w="12700">
            <a:solidFill>
              <a:srgbClr val="4C6EA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65760" y="371246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TF-IDF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02920" y="4023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TF(t,d) = (count of t in d) / (total terms in d)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02920" y="4315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IDF(t) = log( N / df(t) )   →   TF-IDF = TF × IDF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709160" y="3712464"/>
            <a:ext cx="40690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D8B76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709160" y="3712464"/>
            <a:ext cx="1371600" cy="292608"/>
          </a:xfrm>
          <a:prstGeom prst="rect">
            <a:avLst/>
          </a:prstGeom>
          <a:solidFill>
            <a:srgbClr val="4D8B76"/>
          </a:solidFill>
          <a:ln w="12700">
            <a:solidFill>
              <a:srgbClr val="4D8B7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709160" y="37124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Cosine Sim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4846320" y="40233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cos(θ) = (A · B) / (|A| × |B|)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846320" y="43159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Σ(AᵢBᵢ) / √Σ(Aᵢ²) × √Σ(Bᵢ²)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5A87"/>
          </a:solidFill>
          <a:ln w="12700">
            <a:solidFill>
              <a:srgbClr val="2A5A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3D7AB5"/>
          </a:solidFill>
          <a:ln w="12700">
            <a:solidFill>
              <a:srgbClr val="3D7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Q3  ·  What Will be Achieved?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0116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5156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109728" cy="1691640"/>
          </a:xfrm>
          <a:prstGeom prst="rect">
            <a:avLst/>
          </a:prstGeom>
          <a:solidFill>
            <a:srgbClr val="8C4455"/>
          </a:solidFill>
          <a:ln w="12700">
            <a:solidFill>
              <a:srgbClr val="8C44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25880"/>
            <a:ext cx="777240" cy="777240"/>
          </a:xfrm>
          <a:prstGeom prst="ellipse">
            <a:avLst/>
          </a:prstGeom>
          <a:solidFill>
            <a:srgbClr val="8C4455"/>
          </a:solidFill>
          <a:ln w="12700">
            <a:solidFill>
              <a:srgbClr val="8C445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399032"/>
            <a:ext cx="621792" cy="6217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4752" y="11430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8C4455"/>
                </a:solidFill>
              </a:rPr>
              <a:t>Automated Data Pipeline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444752" y="15544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D7A8A"/>
                </a:solidFill>
              </a:rPr>
              <a:t>Self-updating job board scraping 6 portals every 6 hours — zero manual data entry required</a:t>
            </a:r>
            <a:r>
              <a:rPr lang="en-US" sz="1100" dirty="0">
                <a:solidFill>
                  <a:srgbClr val="6D7A8A"/>
                </a:solidFill>
              </a:rPr>
              <a:t>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05156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051560"/>
            <a:ext cx="109728" cy="1691640"/>
          </a:xfrm>
          <a:prstGeom prst="rect">
            <a:avLst/>
          </a:prstGeom>
          <a:solidFill>
            <a:srgbClr val="4C6EA0"/>
          </a:solidFill>
          <a:ln w="12700">
            <a:solidFill>
              <a:srgbClr val="4C6EA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325880"/>
            <a:ext cx="777240" cy="777240"/>
          </a:xfrm>
          <a:prstGeom prst="ellipse">
            <a:avLst/>
          </a:prstGeom>
          <a:solidFill>
            <a:srgbClr val="4C6EA0"/>
          </a:solidFill>
          <a:ln w="12700">
            <a:solidFill>
              <a:srgbClr val="4C6EA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1399032"/>
            <a:ext cx="621792" cy="6217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25312" y="11430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C6EA0"/>
                </a:solidFill>
              </a:rPr>
              <a:t>AI Resume Parsing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925312" y="15544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D7A8A"/>
                </a:solidFill>
              </a:rPr>
              <a:t>Users upload CV/Resume; system auto-extracts skills, employment history, and education.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274320" y="297180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971800"/>
            <a:ext cx="109728" cy="1691640"/>
          </a:xfrm>
          <a:prstGeom prst="rect">
            <a:avLst/>
          </a:prstGeom>
          <a:solidFill>
            <a:srgbClr val="9A6B2F"/>
          </a:solidFill>
          <a:ln w="12700">
            <a:solidFill>
              <a:srgbClr val="9A6B2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2920" y="3246120"/>
            <a:ext cx="777240" cy="777240"/>
          </a:xfrm>
          <a:prstGeom prst="ellipse">
            <a:avLst/>
          </a:prstGeom>
          <a:solidFill>
            <a:srgbClr val="9A6B2F"/>
          </a:solidFill>
          <a:ln w="12700">
            <a:solidFill>
              <a:srgbClr val="9A6B2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319272"/>
            <a:ext cx="621792" cy="6217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3063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6B2F"/>
                </a:solidFill>
              </a:rPr>
              <a:t>Smart Recommendations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1444752" y="3474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D7A8A"/>
                </a:solidFill>
              </a:rPr>
              <a:t>Shifts from 'user searches jobs' to 'system brings best jobs to user' via AI match scores</a:t>
            </a:r>
            <a:r>
              <a:rPr lang="en-US" sz="1100" dirty="0">
                <a:solidFill>
                  <a:srgbClr val="6D7A8A"/>
                </a:solidFill>
              </a:rPr>
              <a:t>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54880" y="297180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2971800"/>
            <a:ext cx="109728" cy="1691640"/>
          </a:xfrm>
          <a:prstGeom prst="rect">
            <a:avLst/>
          </a:prstGeom>
          <a:solidFill>
            <a:srgbClr val="4D8B76"/>
          </a:solidFill>
          <a:ln w="12700">
            <a:solidFill>
              <a:srgbClr val="4D8B7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983480" y="3246120"/>
            <a:ext cx="777240" cy="777240"/>
          </a:xfrm>
          <a:prstGeom prst="ellipse">
            <a:avLst/>
          </a:prstGeom>
          <a:solidFill>
            <a:srgbClr val="4D8B76"/>
          </a:solidFill>
          <a:ln w="12700">
            <a:solidFill>
              <a:srgbClr val="4D8B76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632" y="3319272"/>
            <a:ext cx="621792" cy="6217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25312" y="3063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D8B76"/>
                </a:solidFill>
              </a:rPr>
              <a:t>Complete SaaS Architecture</a:t>
            </a: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5925312" y="3474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D7A8A"/>
                </a:solidFill>
              </a:rPr>
              <a:t>Flask app with user auth, secure file uploads, SQLite database &amp; background scheduler</a:t>
            </a:r>
            <a:r>
              <a:rPr lang="en-US" sz="1100" dirty="0">
                <a:solidFill>
                  <a:srgbClr val="6D7A8A"/>
                </a:solidFill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5A87"/>
          </a:solidFill>
          <a:ln w="12700">
            <a:solidFill>
              <a:srgbClr val="2A5A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3D7AB5"/>
          </a:solidFill>
          <a:ln w="12700">
            <a:solidFill>
              <a:srgbClr val="3D7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Q4  ·  Project Flow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0116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05156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051560"/>
            <a:ext cx="1572768" cy="530352"/>
          </a:xfrm>
          <a:prstGeom prst="rect">
            <a:avLst/>
          </a:prstGeom>
          <a:solidFill>
            <a:srgbClr val="8C4455"/>
          </a:solidFill>
          <a:ln w="12700">
            <a:solidFill>
              <a:srgbClr val="8C44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3464" y="10515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57784" y="1719072"/>
            <a:ext cx="914400" cy="914400"/>
          </a:xfrm>
          <a:prstGeom prst="ellipse">
            <a:avLst/>
          </a:prstGeom>
          <a:solidFill>
            <a:srgbClr val="8C4455"/>
          </a:solidFill>
          <a:ln w="12700">
            <a:solidFill>
              <a:srgbClr val="8C4455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828800"/>
            <a:ext cx="694944" cy="6949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3464" y="27432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C4455"/>
                </a:solidFill>
              </a:rPr>
              <a:t>Data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8C4455"/>
                </a:solidFill>
              </a:rPr>
              <a:t>Collection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320040" y="3337560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D7A8A"/>
                </a:solidFill>
              </a:rPr>
              <a:t>Scraper runs every 6 hrs, visits 6 job portals, updates DB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828800" y="2852928"/>
            <a:ext cx="109728" cy="64008"/>
          </a:xfrm>
          <a:prstGeom prst="rect">
            <a:avLst/>
          </a:prstGeom>
          <a:solidFill>
            <a:srgbClr val="6D7A8A"/>
          </a:solidFill>
          <a:ln w="12700">
            <a:solidFill>
              <a:srgbClr val="6D7A8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938528" y="105156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965960" y="1051560"/>
            <a:ext cx="1572768" cy="530352"/>
          </a:xfrm>
          <a:prstGeom prst="rect">
            <a:avLst/>
          </a:prstGeom>
          <a:solidFill>
            <a:srgbClr val="4C6EA0"/>
          </a:solidFill>
          <a:ln w="12700">
            <a:solidFill>
              <a:srgbClr val="4C6EA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20824" y="10515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2295144" y="1719072"/>
            <a:ext cx="914400" cy="914400"/>
          </a:xfrm>
          <a:prstGeom prst="ellipse">
            <a:avLst/>
          </a:prstGeom>
          <a:solidFill>
            <a:srgbClr val="4C6EA0"/>
          </a:solidFill>
          <a:ln w="12700">
            <a:solidFill>
              <a:srgbClr val="4C6EA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872" y="1828800"/>
            <a:ext cx="694944" cy="6949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20824" y="27432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6EA0"/>
                </a:solidFill>
              </a:rPr>
              <a:t>User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4C6EA0"/>
                </a:solidFill>
              </a:rPr>
              <a:t>Registration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057400" y="3337560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D7A8A"/>
                </a:solidFill>
              </a:rPr>
              <a:t>Job seeker creates account &amp; uploads Resume/CV document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566160" y="2852928"/>
            <a:ext cx="109728" cy="64008"/>
          </a:xfrm>
          <a:prstGeom prst="rect">
            <a:avLst/>
          </a:prstGeom>
          <a:solidFill>
            <a:srgbClr val="6D7A8A"/>
          </a:solidFill>
          <a:ln w="12700">
            <a:solidFill>
              <a:srgbClr val="6D7A8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703320" y="105156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703320" y="1051560"/>
            <a:ext cx="1572768" cy="530352"/>
          </a:xfrm>
          <a:prstGeom prst="rect">
            <a:avLst/>
          </a:prstGeom>
          <a:solidFill>
            <a:srgbClr val="7D5C8A"/>
          </a:solidFill>
          <a:ln w="12700">
            <a:solidFill>
              <a:srgbClr val="7D5C8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758184" y="10515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4032504" y="1719072"/>
            <a:ext cx="914400" cy="914400"/>
          </a:xfrm>
          <a:prstGeom prst="ellipse">
            <a:avLst/>
          </a:prstGeom>
          <a:solidFill>
            <a:srgbClr val="7D5C8A"/>
          </a:solidFill>
          <a:ln w="12700">
            <a:solidFill>
              <a:srgbClr val="7D5C8A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32" y="1828800"/>
            <a:ext cx="694944" cy="6949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758184" y="27432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D5C8A"/>
                </a:solidFill>
              </a:rPr>
              <a:t>Resume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7D5C8A"/>
                </a:solidFill>
              </a:rPr>
              <a:t>Parsing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3794760" y="3337560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D7A8A"/>
                </a:solidFill>
              </a:rPr>
              <a:t>resume_parser.py extracts skills, location &amp; job titles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303520" y="2852928"/>
            <a:ext cx="109728" cy="64008"/>
          </a:xfrm>
          <a:prstGeom prst="rect">
            <a:avLst/>
          </a:prstGeom>
          <a:solidFill>
            <a:srgbClr val="6D7A8A"/>
          </a:solidFill>
          <a:ln w="12700">
            <a:solidFill>
              <a:srgbClr val="6D7A8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440680" y="105156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440680" y="1051560"/>
            <a:ext cx="1572768" cy="530352"/>
          </a:xfrm>
          <a:prstGeom prst="rect">
            <a:avLst/>
          </a:prstGeom>
          <a:solidFill>
            <a:srgbClr val="4D8B76"/>
          </a:solidFill>
          <a:ln w="12700">
            <a:solidFill>
              <a:srgbClr val="4D8B7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495544" y="10515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33" name="Shape 27"/>
          <p:cNvSpPr/>
          <p:nvPr/>
        </p:nvSpPr>
        <p:spPr>
          <a:xfrm>
            <a:off x="5769864" y="1719072"/>
            <a:ext cx="914400" cy="914400"/>
          </a:xfrm>
          <a:prstGeom prst="ellipse">
            <a:avLst/>
          </a:prstGeom>
          <a:solidFill>
            <a:srgbClr val="4D8B76"/>
          </a:solidFill>
          <a:ln w="12700">
            <a:solidFill>
              <a:srgbClr val="4D8B76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1828800"/>
            <a:ext cx="694944" cy="6949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495544" y="27432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D8B76"/>
                </a:solidFill>
              </a:rPr>
              <a:t>AI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4D8B76"/>
                </a:solidFill>
              </a:rPr>
              <a:t>Matching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5532120" y="3337560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D7A8A"/>
                </a:solidFill>
              </a:rPr>
              <a:t>matcher.py runs TF-IDF + Cosine Similarity on active jobs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7040880" y="2852928"/>
            <a:ext cx="109728" cy="64008"/>
          </a:xfrm>
          <a:prstGeom prst="rect">
            <a:avLst/>
          </a:prstGeom>
          <a:solidFill>
            <a:srgbClr val="6D7A8A"/>
          </a:solidFill>
          <a:ln w="12700">
            <a:solidFill>
              <a:srgbClr val="6D7A8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7178040" y="105156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7178040" y="1051560"/>
            <a:ext cx="1572768" cy="530352"/>
          </a:xfrm>
          <a:prstGeom prst="rect">
            <a:avLst/>
          </a:prstGeom>
          <a:solidFill>
            <a:srgbClr val="9A6B2F"/>
          </a:solidFill>
          <a:ln w="12700">
            <a:solidFill>
              <a:srgbClr val="9A6B2F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232904" y="10515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sp>
        <p:nvSpPr>
          <p:cNvPr id="41" name="Shape 34"/>
          <p:cNvSpPr/>
          <p:nvPr/>
        </p:nvSpPr>
        <p:spPr>
          <a:xfrm>
            <a:off x="7507224" y="1719072"/>
            <a:ext cx="914400" cy="914400"/>
          </a:xfrm>
          <a:prstGeom prst="ellipse">
            <a:avLst/>
          </a:prstGeom>
          <a:solidFill>
            <a:srgbClr val="9A6B2F"/>
          </a:solidFill>
          <a:ln w="12700">
            <a:solidFill>
              <a:srgbClr val="9A6B2F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1828800"/>
            <a:ext cx="694944" cy="69494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232904" y="27432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6B2F"/>
                </a:solidFill>
              </a:rPr>
              <a:t>Ranked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9A6B2F"/>
                </a:solidFill>
              </a:rPr>
              <a:t>Dashboard</a:t>
            </a:r>
            <a:endParaRPr lang="en-US" sz="2000" dirty="0"/>
          </a:p>
        </p:txBody>
      </p:sp>
      <p:sp>
        <p:nvSpPr>
          <p:cNvPr id="44" name="Text 36"/>
          <p:cNvSpPr/>
          <p:nvPr/>
        </p:nvSpPr>
        <p:spPr>
          <a:xfrm>
            <a:off x="7269480" y="3337560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D7A8A"/>
                </a:solidFill>
              </a:rPr>
              <a:t>Jobs ranked by Match Score (e.g. 94%) with apply links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7AB5"/>
          </a:solidFill>
          <a:ln w="12700">
            <a:solidFill>
              <a:srgbClr val="3D7A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02920" cy="5079492"/>
          </a:xfrm>
          <a:prstGeom prst="rect">
            <a:avLst/>
          </a:prstGeom>
          <a:solidFill>
            <a:srgbClr val="2A5A87"/>
          </a:solidFill>
          <a:ln w="12700">
            <a:solidFill>
              <a:srgbClr val="2A5A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DDE9F5">
              <a:alpha val="70000"/>
            </a:srgbClr>
          </a:solidFill>
          <a:ln w="12700">
            <a:solidFill>
              <a:srgbClr val="DDE9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743200"/>
            <a:ext cx="3657600" cy="3657600"/>
          </a:xfrm>
          <a:prstGeom prst="ellipse">
            <a:avLst/>
          </a:prstGeom>
          <a:solidFill>
            <a:srgbClr val="DDE9F5">
              <a:alpha val="70000"/>
            </a:srgbClr>
          </a:solidFill>
          <a:ln w="12700">
            <a:solidFill>
              <a:srgbClr val="DDE9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457200"/>
            <a:ext cx="1463040" cy="1463040"/>
          </a:xfrm>
          <a:prstGeom prst="ellipse">
            <a:avLst/>
          </a:prstGeom>
          <a:solidFill>
            <a:srgbClr val="3D7AB5"/>
          </a:solidFill>
          <a:ln w="12700">
            <a:solidFill>
              <a:srgbClr val="2A5A8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621792"/>
            <a:ext cx="1133856" cy="11338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62763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D7AB5"/>
                </a:solidFill>
              </a:rPr>
              <a:t>HirePakistan  —  Bridging Talent &amp; Opportunity with AI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00400" y="3218688"/>
            <a:ext cx="2743200" cy="27432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34670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Muhammad Saddique</a:t>
            </a:r>
            <a:r>
              <a:rPr lang="en-US" dirty="0">
                <a:solidFill>
                  <a:srgbClr val="6D7A8A"/>
                </a:solidFill>
              </a:rPr>
              <a:t>   ·   AI Course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474720" y="3913632"/>
            <a:ext cx="2194560" cy="502920"/>
          </a:xfrm>
          <a:prstGeom prst="rect">
            <a:avLst/>
          </a:prstGeom>
          <a:solidFill>
            <a:srgbClr val="3D7AB5"/>
          </a:solidFill>
          <a:ln w="12700">
            <a:solidFill>
              <a:srgbClr val="3D7A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39136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NAVTTC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F5F7FA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D7A8A"/>
                </a:solidFill>
              </a:rPr>
              <a:t>HirePakistan  ·  Muhammad Saddique  ·  NAVTTC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465</Words>
  <Application>Microsoft Office PowerPoint</Application>
  <PresentationFormat>On-screen Show (16:9)</PresentationFormat>
  <Paragraphs>77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HirePakistan - AI Job Recommendation Platform</dc:title>
  <dc:subject>PptxGenJS Presentation</dc:subject>
  <dc:creator>PptxGenJS</dc:creator>
  <cp:lastModifiedBy>FA22-BCS-053 M. Siddique</cp:lastModifiedBy>
  <cp:revision>39</cp:revision>
  <dcterms:created xsi:type="dcterms:W3CDTF">2026-04-24T05:54:58Z</dcterms:created>
  <dcterms:modified xsi:type="dcterms:W3CDTF">2026-04-24T07:04:11Z</dcterms:modified>
</cp:coreProperties>
</file>